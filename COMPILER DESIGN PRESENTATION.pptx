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7" r:id="rId4"/>
  </p:sldMasterIdLst>
  <p:notesMasterIdLst>
    <p:notesMasterId r:id="rId16"/>
  </p:notesMasterIdLst>
  <p:sldIdLst>
    <p:sldId id="256" r:id="rId5"/>
    <p:sldId id="258" r:id="rId6"/>
    <p:sldId id="257" r:id="rId7"/>
    <p:sldId id="260" r:id="rId8"/>
    <p:sldId id="274" r:id="rId9"/>
    <p:sldId id="273" r:id="rId10"/>
    <p:sldId id="261" r:id="rId11"/>
    <p:sldId id="263" r:id="rId12"/>
    <p:sldId id="275" r:id="rId13"/>
    <p:sldId id="276"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0B3699-D370-4403-8EF1-E9C98C7954E8}">
          <p14:sldIdLst>
            <p14:sldId id="256"/>
            <p14:sldId id="258"/>
            <p14:sldId id="257"/>
            <p14:sldId id="260"/>
            <p14:sldId id="274"/>
            <p14:sldId id="273"/>
            <p14:sldId id="261"/>
            <p14:sldId id="263"/>
            <p14:sldId id="275"/>
            <p14:sldId id="276"/>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viewProps" Target="viewProps.xml" /><Relationship Id="rId3" Type="http://schemas.openxmlformats.org/officeDocument/2006/relationships/customXml" Target="../customXml/item3.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presProps" Target="presProps.xml" /><Relationship Id="rId2" Type="http://schemas.openxmlformats.org/officeDocument/2006/relationships/customXml" Target="../customXml/item2.xml" /><Relationship Id="rId16" Type="http://schemas.openxmlformats.org/officeDocument/2006/relationships/notesMaster" Target="notesMasters/notesMaster1.xml" /><Relationship Id="rId20" Type="http://schemas.openxmlformats.org/officeDocument/2006/relationships/tableStyles" Target="tableStyle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10" Type="http://schemas.openxmlformats.org/officeDocument/2006/relationships/slide" Target="slides/slide6.xml" /><Relationship Id="rId19" Type="http://schemas.openxmlformats.org/officeDocument/2006/relationships/theme" Target="theme/theme1.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E0A0D5-8F98-4CC1-A28E-021F0B6B475C}" type="datetimeFigureOut">
              <a:rPr lang="en-US" smtClean="0"/>
              <a:t>5/8/2023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03C52C-5E29-41AF-BAA3-8217E886DA08}" type="slidenum">
              <a:rPr lang="en-US" smtClean="0"/>
              <a:t>‹#›</a:t>
            </a:fld>
            <a:endParaRPr lang="en-US" dirty="0"/>
          </a:p>
        </p:txBody>
      </p:sp>
    </p:spTree>
    <p:extLst>
      <p:ext uri="{BB962C8B-B14F-4D97-AF65-F5344CB8AC3E}">
        <p14:creationId xmlns:p14="http://schemas.microsoft.com/office/powerpoint/2010/main" val="1961961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A750590-9F9A-443B-9295-A3931D8194B1}"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3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75B4BE-627A-4EC1-99E1-6F1AA97AB802}"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76955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BFACF8-E63D-4673-A128-83547867BB7A}"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41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5BED6AC-4FBA-40BD-BE75-20DB64DA4BAD}" type="datetime1">
              <a:rPr lang="en-US" smtClean="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29123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933C87-D201-458A-93C0-8EDD9AC92D93}" type="datetime1">
              <a:rPr lang="en-US" smtClean="0"/>
              <a:t>5/8/2023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6422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CE6829-5A25-485A-91B1-5D6D58BB9F23}" type="datetime1">
              <a:rPr lang="en-US" smtClean="0"/>
              <a:t>5/8/2023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11541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912F5CD-23D0-4DD1-85B1-71F1825FB3EC}" type="datetime1">
              <a:rPr lang="en-US" smtClean="0"/>
              <a:t>5/8/2023</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05326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8BA5035-C284-496A-B076-BA73A8FA5D8B}" type="datetime1">
              <a:rPr lang="en-US" smtClean="0"/>
              <a:t>5/8/2023</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062043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0EB420-1875-490A-8C4B-7AAB939FBE08}" type="datetime1">
              <a:rPr lang="en-US" smtClean="0"/>
              <a:t>5/8/2023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81081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96F347-1B2F-4097-AEB5-4A26FB45D67A}"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02348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C1DEE0-34E5-4E0F-BEC1-4B8835F82CD1}" type="datetime1">
              <a:rPr lang="en-US" smtClean="0"/>
              <a:t>5/8/2023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47869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9359126-4846-4E88-BDD9-5585CC877E47}" type="datetime1">
              <a:rPr lang="en-US" smtClean="0"/>
              <a:t>5/8/2023</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44591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5CD8D-E704-46A1-BC3E-9A644A9FFD4E}"/>
              </a:ext>
            </a:extLst>
          </p:cNvPr>
          <p:cNvSpPr>
            <a:spLocks noGrp="1"/>
          </p:cNvSpPr>
          <p:nvPr>
            <p:ph type="ctrTitle"/>
          </p:nvPr>
        </p:nvSpPr>
        <p:spPr>
          <a:xfrm>
            <a:off x="1075764" y="2799461"/>
            <a:ext cx="7333129" cy="2149057"/>
          </a:xfrm>
        </p:spPr>
        <p:txBody>
          <a:bodyPr anchor="ctr">
            <a:normAutofit/>
          </a:bodyPr>
          <a:lstStyle/>
          <a:p>
            <a:br>
              <a:rPr lang="en-IN" sz="3200" b="0" i="0" u="none" strike="noStrike" baseline="0" dirty="0">
                <a:solidFill>
                  <a:srgbClr val="000000"/>
                </a:solidFill>
                <a:latin typeface="Times New Roman" panose="02020603050405020304" pitchFamily="18" charset="0"/>
              </a:rPr>
            </a:br>
            <a:r>
              <a:rPr lang="en-IN" sz="3600" b="1" i="0" dirty="0">
                <a:solidFill>
                  <a:srgbClr val="000000"/>
                </a:solidFill>
                <a:effectLst/>
                <a:latin typeface="CIDFont+F3"/>
              </a:rPr>
              <a:t>SYNTAX ANALYSER FOR CONDITIONAL (IF-ELSE STATEMENT)</a:t>
            </a:r>
            <a:r>
              <a:rPr lang="en-IN" sz="3600" b="1" dirty="0"/>
              <a:t> </a:t>
            </a:r>
            <a:br>
              <a:rPr lang="en-IN" sz="800" dirty="0"/>
            </a:br>
            <a:endParaRPr lang="en-US" sz="3200" i="1" u="sng" dirty="0">
              <a:latin typeface="Engravers MT" panose="02090707080505020304" pitchFamily="18" charset="0"/>
            </a:endParaRPr>
          </a:p>
        </p:txBody>
      </p:sp>
      <p:sp>
        <p:nvSpPr>
          <p:cNvPr id="5" name="Subtitle 4">
            <a:extLst>
              <a:ext uri="{FF2B5EF4-FFF2-40B4-BE49-F238E27FC236}">
                <a16:creationId xmlns:a16="http://schemas.microsoft.com/office/drawing/2014/main" id="{ABBC378E-A7F2-B989-C4FA-C595FCA07E2F}"/>
              </a:ext>
            </a:extLst>
          </p:cNvPr>
          <p:cNvSpPr>
            <a:spLocks noGrp="1"/>
          </p:cNvSpPr>
          <p:nvPr>
            <p:ph type="subTitle" idx="1"/>
          </p:nvPr>
        </p:nvSpPr>
        <p:spPr>
          <a:xfrm>
            <a:off x="167307" y="5888475"/>
            <a:ext cx="9448800" cy="685800"/>
          </a:xfrm>
        </p:spPr>
        <p:txBody>
          <a:bodyPr/>
          <a:lstStyle/>
          <a:p>
            <a:r>
              <a:rPr lang="en-US" sz="3200" b="1" dirty="0">
                <a:solidFill>
                  <a:srgbClr val="C00000"/>
                </a:solidFill>
                <a:latin typeface="Bahnschrift Light SemiCondensed" panose="020B0502040204020203" pitchFamily="34" charset="0"/>
              </a:rPr>
              <a:t>18CSC304J – Compiler Design</a:t>
            </a:r>
          </a:p>
          <a:p>
            <a:endParaRPr lang="en-IN" dirty="0"/>
          </a:p>
        </p:txBody>
      </p:sp>
    </p:spTree>
    <p:extLst>
      <p:ext uri="{BB962C8B-B14F-4D97-AF65-F5344CB8AC3E}">
        <p14:creationId xmlns:p14="http://schemas.microsoft.com/office/powerpoint/2010/main" val="375466494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82189">
              <a:schemeClr val="tx2"/>
            </a:gs>
            <a:gs pos="39079">
              <a:schemeClr val="tx2"/>
            </a:gs>
            <a:gs pos="100000">
              <a:schemeClr val="tx2"/>
            </a:gs>
            <a:gs pos="30464">
              <a:schemeClr val="tx2"/>
            </a:gs>
            <a:gs pos="14350">
              <a:schemeClr val="tx2"/>
            </a:gs>
            <a:gs pos="0">
              <a:schemeClr val="tx2"/>
            </a:gs>
            <a:gs pos="50000">
              <a:schemeClr val="tx2"/>
            </a:gs>
            <a:gs pos="100000">
              <a:schemeClr val="tx2"/>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3883-D4A6-6103-3017-8DE0103794D1}"/>
              </a:ext>
            </a:extLst>
          </p:cNvPr>
          <p:cNvSpPr>
            <a:spLocks noGrp="1"/>
          </p:cNvSpPr>
          <p:nvPr>
            <p:ph type="title"/>
          </p:nvPr>
        </p:nvSpPr>
        <p:spPr>
          <a:xfrm>
            <a:off x="726141" y="3660410"/>
            <a:ext cx="10780058" cy="863511"/>
          </a:xfrm>
        </p:spPr>
        <p:txBody>
          <a:bodyPr>
            <a:normAutofit fontScale="90000"/>
          </a:bodyPr>
          <a:lstStyle/>
          <a:p>
            <a:pPr algn="l"/>
            <a:r>
              <a:rPr lang="en-IN" dirty="0"/>
              <a:t>                         </a:t>
            </a:r>
            <a:r>
              <a:rPr lang="en-IN" b="1" dirty="0">
                <a:solidFill>
                  <a:schemeClr val="bg1"/>
                </a:solidFill>
              </a:rPr>
              <a:t>Team members</a:t>
            </a:r>
          </a:p>
        </p:txBody>
      </p:sp>
      <p:sp>
        <p:nvSpPr>
          <p:cNvPr id="4" name="TextBox 3">
            <a:extLst>
              <a:ext uri="{FF2B5EF4-FFF2-40B4-BE49-F238E27FC236}">
                <a16:creationId xmlns:a16="http://schemas.microsoft.com/office/drawing/2014/main" id="{1D716D1F-3CEF-9A01-1EC3-8706B26CB086}"/>
              </a:ext>
            </a:extLst>
          </p:cNvPr>
          <p:cNvSpPr txBox="1"/>
          <p:nvPr/>
        </p:nvSpPr>
        <p:spPr>
          <a:xfrm>
            <a:off x="5880849" y="4386641"/>
            <a:ext cx="5943600" cy="830997"/>
          </a:xfrm>
          <a:prstGeom prst="rect">
            <a:avLst/>
          </a:prstGeom>
          <a:noFill/>
        </p:spPr>
        <p:txBody>
          <a:bodyPr wrap="square" rtlCol="0">
            <a:spAutoFit/>
          </a:bodyPr>
          <a:lstStyle/>
          <a:p>
            <a:r>
              <a:rPr lang="en-IN" sz="2400" dirty="0">
                <a:solidFill>
                  <a:schemeClr val="accent3"/>
                </a:solidFill>
              </a:rPr>
              <a:t>VASU BUCHINGARI(RA2011003010412)</a:t>
            </a:r>
          </a:p>
          <a:p>
            <a:r>
              <a:rPr lang="en-IN" sz="2000" dirty="0">
                <a:solidFill>
                  <a:schemeClr val="accent3"/>
                </a:solidFill>
              </a:rPr>
              <a:t>CHANDRA</a:t>
            </a:r>
            <a:r>
              <a:rPr lang="en-IN" sz="2400" dirty="0">
                <a:solidFill>
                  <a:schemeClr val="accent3"/>
                </a:solidFill>
              </a:rPr>
              <a:t> SEKHAR KARNA(RA2011003010435)</a:t>
            </a:r>
          </a:p>
        </p:txBody>
      </p:sp>
    </p:spTree>
    <p:extLst>
      <p:ext uri="{BB962C8B-B14F-4D97-AF65-F5344CB8AC3E}">
        <p14:creationId xmlns:p14="http://schemas.microsoft.com/office/powerpoint/2010/main" val="826041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9EA88-8D83-4F3F-A4C1-4B16E2377F9E}"/>
              </a:ext>
            </a:extLst>
          </p:cNvPr>
          <p:cNvSpPr>
            <a:spLocks noGrp="1"/>
          </p:cNvSpPr>
          <p:nvPr>
            <p:ph type="title"/>
          </p:nvPr>
        </p:nvSpPr>
        <p:spPr>
          <a:xfrm>
            <a:off x="-1245113" y="568659"/>
            <a:ext cx="7673020" cy="1247307"/>
          </a:xfrm>
        </p:spPr>
        <p:txBody>
          <a:bodyPr>
            <a:normAutofit/>
          </a:bodyPr>
          <a:lstStyle/>
          <a:p>
            <a:pPr algn="ctr"/>
            <a:r>
              <a:rPr lang="en-US" b="1" dirty="0"/>
              <a:t>Introduction </a:t>
            </a:r>
            <a:r>
              <a:rPr lang="en-US" dirty="0"/>
              <a:t>  </a:t>
            </a:r>
          </a:p>
        </p:txBody>
      </p:sp>
      <p:sp>
        <p:nvSpPr>
          <p:cNvPr id="3" name="Content Placeholder 2">
            <a:extLst>
              <a:ext uri="{FF2B5EF4-FFF2-40B4-BE49-F238E27FC236}">
                <a16:creationId xmlns:a16="http://schemas.microsoft.com/office/drawing/2014/main" id="{9F541FAF-730D-47FE-9638-C05616C31320}"/>
              </a:ext>
            </a:extLst>
          </p:cNvPr>
          <p:cNvSpPr>
            <a:spLocks noGrp="1"/>
          </p:cNvSpPr>
          <p:nvPr>
            <p:ph idx="1"/>
          </p:nvPr>
        </p:nvSpPr>
        <p:spPr>
          <a:xfrm>
            <a:off x="1139889" y="1815966"/>
            <a:ext cx="10057029" cy="4192948"/>
          </a:xfrm>
        </p:spPr>
        <p:txBody>
          <a:bodyPr>
            <a:normAutofit/>
          </a:bodyPr>
          <a:lstStyle/>
          <a:p>
            <a:pPr algn="just"/>
            <a:r>
              <a:rPr lang="en-US" sz="2400" b="0" i="0" dirty="0">
                <a:solidFill>
                  <a:srgbClr val="000000"/>
                </a:solidFill>
                <a:effectLst/>
                <a:latin typeface="CIDFont+F2"/>
              </a:rPr>
              <a:t>A syntax analyzer for conditional (if-else statement) is a program that checks whether a given input string follows the syntax rules for a valid if-else statement. It takes as input a string representing an if-else statement and checks whether the syntax is correct according to a set of predefined grammar </a:t>
            </a:r>
            <a:r>
              <a:rPr lang="en-US" sz="2400" b="0" i="0" dirty="0" err="1">
                <a:solidFill>
                  <a:srgbClr val="000000"/>
                </a:solidFill>
                <a:effectLst/>
                <a:latin typeface="CIDFont+F2"/>
              </a:rPr>
              <a:t>rules.The</a:t>
            </a:r>
            <a:r>
              <a:rPr lang="en-US" sz="2400" b="0" i="0" dirty="0">
                <a:solidFill>
                  <a:srgbClr val="000000"/>
                </a:solidFill>
                <a:effectLst/>
                <a:latin typeface="CIDFont+F2"/>
              </a:rPr>
              <a:t> analyzer uses a recursive descent parsing </a:t>
            </a:r>
            <a:r>
              <a:rPr lang="en-US" sz="2400" b="0" i="0" dirty="0" err="1">
                <a:solidFill>
                  <a:srgbClr val="000000"/>
                </a:solidFill>
                <a:effectLst/>
                <a:latin typeface="CIDFont+F2"/>
              </a:rPr>
              <a:t>technique,where</a:t>
            </a:r>
            <a:r>
              <a:rPr lang="en-US" sz="2400" b="0" i="0" dirty="0">
                <a:solidFill>
                  <a:srgbClr val="000000"/>
                </a:solidFill>
                <a:effectLst/>
                <a:latin typeface="CIDFont+F2"/>
              </a:rPr>
              <a:t> each non-terminal symbol in the grammar is represented by a separate function. </a:t>
            </a:r>
          </a:p>
          <a:p>
            <a:pPr algn="just"/>
            <a:r>
              <a:rPr lang="en-US" sz="2400" b="0" i="0" dirty="0">
                <a:solidFill>
                  <a:srgbClr val="000000"/>
                </a:solidFill>
                <a:effectLst/>
                <a:latin typeface="CIDFont+F2"/>
              </a:rPr>
              <a:t>The program checks for syntax errors such as missing or extra tokens, incorrect use of operators and keywords, and invalid expressions or statements. </a:t>
            </a:r>
            <a:br>
              <a:rPr lang="en-US" sz="2400" dirty="0"/>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4233190"/>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82189">
              <a:schemeClr val="tx2"/>
            </a:gs>
            <a:gs pos="39079">
              <a:schemeClr val="tx2"/>
            </a:gs>
            <a:gs pos="100000">
              <a:schemeClr val="tx2"/>
            </a:gs>
            <a:gs pos="30464">
              <a:schemeClr val="tx2"/>
            </a:gs>
            <a:gs pos="14350">
              <a:schemeClr val="tx2"/>
            </a:gs>
            <a:gs pos="0">
              <a:schemeClr val="tx2"/>
            </a:gs>
            <a:gs pos="50000">
              <a:schemeClr val="tx2"/>
            </a:gs>
            <a:gs pos="100000">
              <a:schemeClr val="tx2"/>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A8DC-1201-F44F-1CAA-8FD27C94BFEB}"/>
              </a:ext>
            </a:extLst>
          </p:cNvPr>
          <p:cNvSpPr>
            <a:spLocks noGrp="1"/>
          </p:cNvSpPr>
          <p:nvPr>
            <p:ph type="title"/>
          </p:nvPr>
        </p:nvSpPr>
        <p:spPr>
          <a:xfrm>
            <a:off x="-546940" y="559221"/>
            <a:ext cx="8610600" cy="1295400"/>
          </a:xfrm>
        </p:spPr>
        <p:txBody>
          <a:bodyPr/>
          <a:lstStyle/>
          <a:p>
            <a:pPr algn="ctr"/>
            <a:r>
              <a:rPr lang="en-IN" b="1" dirty="0">
                <a:solidFill>
                  <a:schemeClr val="accent3">
                    <a:lumMod val="50000"/>
                  </a:schemeClr>
                </a:solidFill>
              </a:rPr>
              <a:t>PROBLEM STATEMENT</a:t>
            </a:r>
          </a:p>
        </p:txBody>
      </p:sp>
      <p:sp>
        <p:nvSpPr>
          <p:cNvPr id="7" name="Text Placeholder 2">
            <a:extLst>
              <a:ext uri="{FF2B5EF4-FFF2-40B4-BE49-F238E27FC236}">
                <a16:creationId xmlns:a16="http://schemas.microsoft.com/office/drawing/2014/main" id="{EF45CDA2-36F3-C8A9-3CCB-CA7BA5C0202A}"/>
              </a:ext>
            </a:extLst>
          </p:cNvPr>
          <p:cNvSpPr>
            <a:spLocks noGrp="1"/>
          </p:cNvSpPr>
          <p:nvPr>
            <p:ph sz="half" idx="2"/>
          </p:nvPr>
        </p:nvSpPr>
        <p:spPr>
          <a:xfrm>
            <a:off x="1153977" y="1917280"/>
            <a:ext cx="10152063" cy="3086100"/>
          </a:xfrm>
        </p:spPr>
        <p:txBody>
          <a:bodyPr>
            <a:normAutofit/>
          </a:bodyPr>
          <a:lstStyle/>
          <a:p>
            <a:pPr algn="l"/>
            <a:r>
              <a:rPr lang="en-US" sz="2400" b="0" i="0" dirty="0">
                <a:solidFill>
                  <a:srgbClr val="D1D5DB"/>
                </a:solidFill>
                <a:effectLst/>
                <a:latin typeface="Söhne"/>
              </a:rPr>
              <a:t>The syntax analyzer should also be able to detect and report any syntax errors in the if-else statement, such as missing or mismatched parentheses or braces. Additionally, the syntax analyzer should be able to generate an abstract syntax tree (AST) that represents the structure of the if-else statement and can be used as input for subsequent stages of the compiler, such as the code generator.</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5313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2E1D-6192-048D-B47D-46546AC261A9}"/>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id="{515C80E0-437C-8E7E-2CCF-5742AB2A16EE}"/>
              </a:ext>
            </a:extLst>
          </p:cNvPr>
          <p:cNvSpPr>
            <a:spLocks noGrp="1"/>
          </p:cNvSpPr>
          <p:nvPr>
            <p:ph idx="1"/>
          </p:nvPr>
        </p:nvSpPr>
        <p:spPr/>
        <p:txBody>
          <a:bodyPr>
            <a:normAutofit lnSpcReduction="10000"/>
          </a:bodyPr>
          <a:lstStyle/>
          <a:p>
            <a:pPr marL="0" indent="0" algn="l">
              <a:buNone/>
            </a:pPr>
            <a:r>
              <a:rPr lang="en-US" sz="2400" b="0" i="0" dirty="0">
                <a:solidFill>
                  <a:schemeClr val="tx1"/>
                </a:solidFill>
                <a:effectLst/>
                <a:latin typeface="Söhne"/>
              </a:rPr>
              <a:t>Define the grammar: The first step is to define the grammar for the programming language that the syntax analyzer will analyze. This involves specifying the syntax and structure of if-else statements, as well as any other conditional statements that will be supported.</a:t>
            </a:r>
          </a:p>
          <a:p>
            <a:pPr marL="0" indent="0" algn="l">
              <a:buNone/>
            </a:pPr>
            <a:r>
              <a:rPr lang="en-US" sz="2400" b="0" i="0" dirty="0">
                <a:solidFill>
                  <a:schemeClr val="tx1"/>
                </a:solidFill>
                <a:effectLst/>
                <a:latin typeface="Söhne"/>
              </a:rPr>
              <a:t>Implement the </a:t>
            </a:r>
            <a:r>
              <a:rPr lang="en-US" sz="2400" b="0" i="0" dirty="0" err="1">
                <a:solidFill>
                  <a:schemeClr val="tx1"/>
                </a:solidFill>
                <a:effectLst/>
                <a:latin typeface="Söhne"/>
              </a:rPr>
              <a:t>lexer</a:t>
            </a:r>
            <a:r>
              <a:rPr lang="en-US" sz="2400" b="0" i="0" dirty="0">
                <a:solidFill>
                  <a:schemeClr val="tx1"/>
                </a:solidFill>
                <a:effectLst/>
                <a:latin typeface="Söhne"/>
              </a:rPr>
              <a:t>: The </a:t>
            </a:r>
            <a:r>
              <a:rPr lang="en-US" sz="2400" b="0" i="0" dirty="0" err="1">
                <a:solidFill>
                  <a:schemeClr val="tx1"/>
                </a:solidFill>
                <a:effectLst/>
                <a:latin typeface="Söhne"/>
              </a:rPr>
              <a:t>lexer</a:t>
            </a:r>
            <a:r>
              <a:rPr lang="en-US" sz="2400" b="0" i="0" dirty="0">
                <a:solidFill>
                  <a:schemeClr val="tx1"/>
                </a:solidFill>
                <a:effectLst/>
                <a:latin typeface="Söhne"/>
              </a:rPr>
              <a:t> (also known as the scanner) is responsible for breaking up the source code into tokens, which are the basic building blocks of the syntax analyzer. The </a:t>
            </a:r>
            <a:r>
              <a:rPr lang="en-US" sz="2400" b="0" i="0" dirty="0" err="1">
                <a:solidFill>
                  <a:schemeClr val="tx1"/>
                </a:solidFill>
                <a:effectLst/>
                <a:latin typeface="Söhne"/>
              </a:rPr>
              <a:t>lexer</a:t>
            </a:r>
            <a:r>
              <a:rPr lang="en-US" sz="2400" b="0" i="0" dirty="0">
                <a:solidFill>
                  <a:schemeClr val="tx1"/>
                </a:solidFill>
                <a:effectLst/>
                <a:latin typeface="Söhne"/>
              </a:rPr>
              <a:t> reads the source code character by character and converts it into a sequence of tokens that can be processed by the parser.</a:t>
            </a:r>
          </a:p>
          <a:p>
            <a:pPr marL="0" indent="0" algn="l">
              <a:buNone/>
            </a:pPr>
            <a:r>
              <a:rPr lang="en-US" sz="2400" b="0" i="0" dirty="0">
                <a:solidFill>
                  <a:schemeClr val="tx1"/>
                </a:solidFill>
                <a:effectLst/>
                <a:latin typeface="Söhne"/>
              </a:rPr>
              <a:t>Implement the parser: The parser is responsible for analyzing the structure of the if-else statements and generating an abstract syntax tree (AST) that represents the structure of the program. The parser uses the grammar defined in step 1 to determine the structure of the program and detect any syntax errors.</a:t>
            </a:r>
          </a:p>
          <a:p>
            <a:endParaRPr lang="en-IN" dirty="0">
              <a:solidFill>
                <a:schemeClr val="tx1"/>
              </a:solidFill>
            </a:endParaRPr>
          </a:p>
        </p:txBody>
      </p:sp>
    </p:spTree>
    <p:extLst>
      <p:ext uri="{BB962C8B-B14F-4D97-AF65-F5344CB8AC3E}">
        <p14:creationId xmlns:p14="http://schemas.microsoft.com/office/powerpoint/2010/main" val="2158479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B144F7-6947-56A7-D1CB-77414BCC1C3F}"/>
              </a:ext>
            </a:extLst>
          </p:cNvPr>
          <p:cNvSpPr txBox="1"/>
          <p:nvPr/>
        </p:nvSpPr>
        <p:spPr>
          <a:xfrm>
            <a:off x="933062" y="1189567"/>
            <a:ext cx="9601200" cy="4062651"/>
          </a:xfrm>
          <a:prstGeom prst="rect">
            <a:avLst/>
          </a:prstGeom>
          <a:noFill/>
        </p:spPr>
        <p:txBody>
          <a:bodyPr wrap="square">
            <a:spAutoFit/>
          </a:bodyPr>
          <a:lstStyle/>
          <a:p>
            <a:pPr algn="l"/>
            <a:r>
              <a:rPr lang="en-US" sz="2400" b="0" i="0" dirty="0">
                <a:effectLst/>
                <a:latin typeface="Söhne"/>
              </a:rPr>
              <a:t>Implement error handling: The parser should be able to detect and report syntax errors in the source code. The syntax analyzer should also include error recovery mechanisms to handle situations where the source code contains errors that prevent the parser from generating a valid AST.</a:t>
            </a:r>
          </a:p>
          <a:p>
            <a:pPr algn="l"/>
            <a:endParaRPr lang="en-US" sz="2400" b="0" i="0" dirty="0">
              <a:effectLst/>
              <a:latin typeface="Söhne"/>
            </a:endParaRPr>
          </a:p>
          <a:p>
            <a:pPr algn="l"/>
            <a:r>
              <a:rPr lang="en-US" sz="2400" b="0" i="0" dirty="0">
                <a:effectLst/>
                <a:latin typeface="Söhne"/>
              </a:rPr>
              <a:t>Testing and integration: Finally, you should thoroughly test the syntax analyzer to ensure that it can correctly parse all valid input programs and handle errors gracefully. The syntax analyzer can then be integrated into a larger compiler system, along with other modules such as the code generator and optimizer.</a:t>
            </a:r>
          </a:p>
          <a:p>
            <a:endParaRPr lang="en-IN" dirty="0"/>
          </a:p>
        </p:txBody>
      </p:sp>
    </p:spTree>
    <p:extLst>
      <p:ext uri="{BB962C8B-B14F-4D97-AF65-F5344CB8AC3E}">
        <p14:creationId xmlns:p14="http://schemas.microsoft.com/office/powerpoint/2010/main" val="3090166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7000">
              <a:schemeClr val="tx2"/>
            </a:gs>
            <a:gs pos="39079">
              <a:schemeClr val="tx2"/>
            </a:gs>
            <a:gs pos="100000">
              <a:schemeClr val="tx2"/>
            </a:gs>
            <a:gs pos="30464">
              <a:schemeClr val="tx2"/>
            </a:gs>
            <a:gs pos="14350">
              <a:schemeClr val="tx2"/>
            </a:gs>
            <a:gs pos="0">
              <a:schemeClr val="tx2"/>
            </a:gs>
            <a:gs pos="50000">
              <a:schemeClr val="tx2"/>
            </a:gs>
            <a:gs pos="10000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13EB3-4D76-716C-085D-69F3A3044BB9}"/>
              </a:ext>
            </a:extLst>
          </p:cNvPr>
          <p:cNvSpPr>
            <a:spLocks noGrp="1"/>
          </p:cNvSpPr>
          <p:nvPr>
            <p:ph type="ctrTitle"/>
          </p:nvPr>
        </p:nvSpPr>
        <p:spPr>
          <a:xfrm>
            <a:off x="-1093694" y="1639775"/>
            <a:ext cx="9448800" cy="805041"/>
          </a:xfrm>
        </p:spPr>
        <p:txBody>
          <a:bodyPr>
            <a:normAutofit fontScale="90000"/>
          </a:bodyPr>
          <a:lstStyle/>
          <a:p>
            <a:pPr algn="ctr"/>
            <a:r>
              <a:rPr lang="en-IN" b="1" dirty="0">
                <a:solidFill>
                  <a:schemeClr val="accent1"/>
                </a:solidFill>
                <a:latin typeface="Latha" panose="020B0604020202020204" pitchFamily="34" charset="0"/>
                <a:cs typeface="Latha" panose="020B0604020202020204" pitchFamily="34" charset="0"/>
              </a:rPr>
              <a:t>REQUIREMENTS</a:t>
            </a:r>
          </a:p>
        </p:txBody>
      </p:sp>
      <p:sp>
        <p:nvSpPr>
          <p:cNvPr id="3" name="Subtitle 2">
            <a:extLst>
              <a:ext uri="{FF2B5EF4-FFF2-40B4-BE49-F238E27FC236}">
                <a16:creationId xmlns:a16="http://schemas.microsoft.com/office/drawing/2014/main" id="{C49E012C-1902-6E8C-CBA8-0C32D74F9E60}"/>
              </a:ext>
            </a:extLst>
          </p:cNvPr>
          <p:cNvSpPr>
            <a:spLocks noGrp="1"/>
          </p:cNvSpPr>
          <p:nvPr>
            <p:ph type="subTitle" idx="1"/>
          </p:nvPr>
        </p:nvSpPr>
        <p:spPr>
          <a:xfrm>
            <a:off x="213360" y="2444816"/>
            <a:ext cx="11744959" cy="3635944"/>
          </a:xfrm>
        </p:spPr>
        <p:txBody>
          <a:bodyPr>
            <a:noAutofit/>
          </a:bodyPr>
          <a:lstStyle/>
          <a:p>
            <a:pPr algn="l">
              <a:lnSpc>
                <a:spcPct val="100000"/>
              </a:lnSpc>
            </a:pPr>
            <a:r>
              <a:rPr lang="en-IN" dirty="0">
                <a:solidFill>
                  <a:schemeClr val="bg1"/>
                </a:solidFill>
                <a:latin typeface="Söhne"/>
              </a:rPr>
              <a:t>Software Requirements:</a:t>
            </a:r>
          </a:p>
          <a:p>
            <a:pPr algn="l">
              <a:lnSpc>
                <a:spcPct val="100000"/>
              </a:lnSpc>
              <a:buFont typeface="Arial" panose="020B0604020202020204" pitchFamily="34" charset="0"/>
              <a:buChar char="•"/>
            </a:pPr>
            <a:r>
              <a:rPr lang="en-IN" sz="1400" dirty="0">
                <a:solidFill>
                  <a:schemeClr val="bg1"/>
                </a:solidFill>
                <a:latin typeface="Söhne"/>
              </a:rPr>
              <a:t>An IDE (Integrated Development Environment) </a:t>
            </a:r>
          </a:p>
          <a:p>
            <a:pPr algn="l">
              <a:lnSpc>
                <a:spcPct val="100000"/>
              </a:lnSpc>
              <a:buFont typeface="Arial" panose="020B0604020202020204" pitchFamily="34" charset="0"/>
              <a:buChar char="•"/>
            </a:pPr>
            <a:r>
              <a:rPr lang="en-IN" sz="1400" dirty="0">
                <a:solidFill>
                  <a:schemeClr val="bg1"/>
                </a:solidFill>
                <a:latin typeface="Söhne"/>
              </a:rPr>
              <a:t>A </a:t>
            </a:r>
            <a:r>
              <a:rPr lang="en-IN" sz="1400" dirty="0" err="1">
                <a:solidFill>
                  <a:schemeClr val="bg1"/>
                </a:solidFill>
                <a:latin typeface="Söhne"/>
              </a:rPr>
              <a:t>lexer</a:t>
            </a:r>
            <a:r>
              <a:rPr lang="en-IN" sz="1400" dirty="0">
                <a:solidFill>
                  <a:schemeClr val="bg1"/>
                </a:solidFill>
                <a:latin typeface="Söhne"/>
              </a:rPr>
              <a:t> generator tool (e.g., Flex, ANTLR) for generating the </a:t>
            </a:r>
            <a:r>
              <a:rPr lang="en-IN" sz="1400" dirty="0" err="1">
                <a:solidFill>
                  <a:schemeClr val="bg1"/>
                </a:solidFill>
                <a:latin typeface="Söhne"/>
              </a:rPr>
              <a:t>lexer</a:t>
            </a:r>
            <a:r>
              <a:rPr lang="en-IN" sz="1400" dirty="0">
                <a:solidFill>
                  <a:schemeClr val="bg1"/>
                </a:solidFill>
                <a:latin typeface="Söhne"/>
              </a:rPr>
              <a:t> code</a:t>
            </a:r>
          </a:p>
          <a:p>
            <a:pPr algn="l">
              <a:lnSpc>
                <a:spcPct val="100000"/>
              </a:lnSpc>
              <a:buFont typeface="Arial" panose="020B0604020202020204" pitchFamily="34" charset="0"/>
              <a:buChar char="•"/>
            </a:pPr>
            <a:r>
              <a:rPr lang="en-IN" sz="1400" dirty="0">
                <a:solidFill>
                  <a:schemeClr val="bg1"/>
                </a:solidFill>
                <a:latin typeface="Söhne"/>
              </a:rPr>
              <a:t>A programming language for implementing the syntax </a:t>
            </a:r>
            <a:r>
              <a:rPr lang="en-IN" sz="1400" dirty="0" err="1">
                <a:solidFill>
                  <a:schemeClr val="bg1"/>
                </a:solidFill>
                <a:latin typeface="Söhne"/>
              </a:rPr>
              <a:t>analyzer</a:t>
            </a:r>
            <a:r>
              <a:rPr lang="en-IN" sz="1400" dirty="0">
                <a:solidFill>
                  <a:schemeClr val="bg1"/>
                </a:solidFill>
                <a:latin typeface="Söhne"/>
              </a:rPr>
              <a:t> (e.g., C++, Java, Python)</a:t>
            </a:r>
          </a:p>
          <a:p>
            <a:pPr algn="l">
              <a:lnSpc>
                <a:spcPct val="100000"/>
              </a:lnSpc>
            </a:pPr>
            <a:r>
              <a:rPr lang="en-IN" dirty="0">
                <a:solidFill>
                  <a:schemeClr val="bg1"/>
                </a:solidFill>
                <a:latin typeface="Söhne"/>
              </a:rPr>
              <a:t>Hardware Requirements:</a:t>
            </a:r>
          </a:p>
          <a:p>
            <a:pPr algn="l">
              <a:lnSpc>
                <a:spcPct val="100000"/>
              </a:lnSpc>
              <a:buFont typeface="Arial" panose="020B0604020202020204" pitchFamily="34" charset="0"/>
              <a:buChar char="•"/>
            </a:pPr>
            <a:r>
              <a:rPr lang="en-IN" sz="1400" dirty="0">
                <a:solidFill>
                  <a:schemeClr val="bg1"/>
                </a:solidFill>
                <a:latin typeface="Söhne"/>
              </a:rPr>
              <a:t>A computer with sufficient processing power and memory </a:t>
            </a:r>
          </a:p>
          <a:p>
            <a:pPr algn="l">
              <a:lnSpc>
                <a:spcPct val="100000"/>
              </a:lnSpc>
              <a:buFont typeface="Arial" panose="020B0604020202020204" pitchFamily="34" charset="0"/>
              <a:buChar char="•"/>
            </a:pPr>
            <a:r>
              <a:rPr lang="en-IN" sz="1400" dirty="0">
                <a:solidFill>
                  <a:schemeClr val="bg1"/>
                </a:solidFill>
                <a:latin typeface="Söhne"/>
              </a:rPr>
              <a:t>A reliable internet connection for downloading and installing software tools and libraries</a:t>
            </a:r>
          </a:p>
          <a:p>
            <a:endParaRPr lang="en-IN" dirty="0">
              <a:solidFill>
                <a:schemeClr val="tx1"/>
              </a:solidFill>
              <a:latin typeface="Söhne"/>
            </a:endParaRPr>
          </a:p>
        </p:txBody>
      </p:sp>
    </p:spTree>
    <p:extLst>
      <p:ext uri="{BB962C8B-B14F-4D97-AF65-F5344CB8AC3E}">
        <p14:creationId xmlns:p14="http://schemas.microsoft.com/office/powerpoint/2010/main" val="2217387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8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6743A-5EF0-1CD4-110E-D5A3CE281046}"/>
              </a:ext>
            </a:extLst>
          </p:cNvPr>
          <p:cNvSpPr>
            <a:spLocks noGrp="1"/>
          </p:cNvSpPr>
          <p:nvPr>
            <p:ph type="title"/>
          </p:nvPr>
        </p:nvSpPr>
        <p:spPr>
          <a:xfrm>
            <a:off x="380389" y="928459"/>
            <a:ext cx="4855000" cy="960121"/>
          </a:xfrm>
        </p:spPr>
        <p:txBody>
          <a:bodyPr/>
          <a:lstStyle/>
          <a:p>
            <a:pPr algn="ctr"/>
            <a:r>
              <a:rPr lang="en-IN" b="1" dirty="0">
                <a:solidFill>
                  <a:srgbClr val="002060"/>
                </a:solidFill>
              </a:rPr>
              <a:t>SOURCE CODE</a:t>
            </a:r>
          </a:p>
        </p:txBody>
      </p:sp>
      <p:pic>
        <p:nvPicPr>
          <p:cNvPr id="8" name="Picture 7">
            <a:extLst>
              <a:ext uri="{FF2B5EF4-FFF2-40B4-BE49-F238E27FC236}">
                <a16:creationId xmlns:a16="http://schemas.microsoft.com/office/drawing/2014/main" id="{41B524AA-35B1-E101-F40D-9A9117D5FCC4}"/>
              </a:ext>
            </a:extLst>
          </p:cNvPr>
          <p:cNvPicPr>
            <a:picLocks noChangeAspect="1"/>
          </p:cNvPicPr>
          <p:nvPr/>
        </p:nvPicPr>
        <p:blipFill rotWithShape="1">
          <a:blip r:embed="rId2"/>
          <a:srcRect l="19579"/>
          <a:stretch/>
        </p:blipFill>
        <p:spPr>
          <a:xfrm>
            <a:off x="1057834" y="1807898"/>
            <a:ext cx="6087037" cy="4248508"/>
          </a:xfrm>
          <a:prstGeom prst="rect">
            <a:avLst/>
          </a:prstGeom>
        </p:spPr>
      </p:pic>
      <p:pic>
        <p:nvPicPr>
          <p:cNvPr id="10" name="Picture 9">
            <a:extLst>
              <a:ext uri="{FF2B5EF4-FFF2-40B4-BE49-F238E27FC236}">
                <a16:creationId xmlns:a16="http://schemas.microsoft.com/office/drawing/2014/main" id="{CFEA0AB0-0C6D-6AAD-842E-C03D4EAE087B}"/>
              </a:ext>
            </a:extLst>
          </p:cNvPr>
          <p:cNvPicPr>
            <a:picLocks noChangeAspect="1"/>
          </p:cNvPicPr>
          <p:nvPr/>
        </p:nvPicPr>
        <p:blipFill rotWithShape="1">
          <a:blip r:embed="rId3"/>
          <a:srcRect r="7174"/>
          <a:stretch/>
        </p:blipFill>
        <p:spPr>
          <a:xfrm>
            <a:off x="7144871" y="2246155"/>
            <a:ext cx="5335374" cy="2895851"/>
          </a:xfrm>
          <a:prstGeom prst="rect">
            <a:avLst/>
          </a:prstGeom>
        </p:spPr>
      </p:pic>
    </p:spTree>
    <p:extLst>
      <p:ext uri="{BB962C8B-B14F-4D97-AF65-F5344CB8AC3E}">
        <p14:creationId xmlns:p14="http://schemas.microsoft.com/office/powerpoint/2010/main" val="3536549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2E1D-6192-048D-B47D-46546AC261A9}"/>
              </a:ext>
            </a:extLst>
          </p:cNvPr>
          <p:cNvSpPr>
            <a:spLocks noGrp="1"/>
          </p:cNvSpPr>
          <p:nvPr>
            <p:ph type="title"/>
          </p:nvPr>
        </p:nvSpPr>
        <p:spPr/>
        <p:txBody>
          <a:bodyPr/>
          <a:lstStyle/>
          <a:p>
            <a:r>
              <a:rPr lang="en-IN" dirty="0"/>
              <a:t>RESULT</a:t>
            </a:r>
          </a:p>
        </p:txBody>
      </p:sp>
      <p:sp>
        <p:nvSpPr>
          <p:cNvPr id="3" name="Content Placeholder 2">
            <a:extLst>
              <a:ext uri="{FF2B5EF4-FFF2-40B4-BE49-F238E27FC236}">
                <a16:creationId xmlns:a16="http://schemas.microsoft.com/office/drawing/2014/main" id="{515C80E0-437C-8E7E-2CCF-5742AB2A16EE}"/>
              </a:ext>
            </a:extLst>
          </p:cNvPr>
          <p:cNvSpPr>
            <a:spLocks noGrp="1"/>
          </p:cNvSpPr>
          <p:nvPr>
            <p:ph idx="1"/>
          </p:nvPr>
        </p:nvSpPr>
        <p:spPr/>
        <p:txBody>
          <a:bodyPr>
            <a:normAutofit/>
          </a:bodyPr>
          <a:lstStyle/>
          <a:p>
            <a:r>
              <a:rPr lang="en-US" sz="2400" b="0" i="0" dirty="0">
                <a:solidFill>
                  <a:srgbClr val="000000"/>
                </a:solidFill>
                <a:effectLst/>
                <a:latin typeface="CIDFont+F2"/>
              </a:rPr>
              <a:t>Syntax </a:t>
            </a:r>
            <a:r>
              <a:rPr lang="en-US" sz="2400" b="0" i="0" dirty="0" err="1">
                <a:solidFill>
                  <a:srgbClr val="000000"/>
                </a:solidFill>
                <a:effectLst/>
                <a:latin typeface="CIDFont+F2"/>
              </a:rPr>
              <a:t>Analyser</a:t>
            </a:r>
            <a:r>
              <a:rPr lang="en-US" sz="2400" b="0" i="0" dirty="0">
                <a:solidFill>
                  <a:srgbClr val="000000"/>
                </a:solidFill>
                <a:effectLst/>
                <a:latin typeface="CIDFont+F2"/>
              </a:rPr>
              <a:t> for Conditional (If-Else Statement) is successfully compiled.</a:t>
            </a:r>
            <a:r>
              <a:rPr lang="en-US" sz="2400" dirty="0"/>
              <a:t> </a:t>
            </a:r>
            <a:br>
              <a:rPr lang="en-US" sz="2400" dirty="0"/>
            </a:br>
            <a:endParaRPr lang="en-IN" sz="2400" dirty="0">
              <a:solidFill>
                <a:schemeClr val="tx1"/>
              </a:solidFill>
            </a:endParaRPr>
          </a:p>
        </p:txBody>
      </p:sp>
      <p:pic>
        <p:nvPicPr>
          <p:cNvPr id="4" name="Picture 3">
            <a:extLst>
              <a:ext uri="{FF2B5EF4-FFF2-40B4-BE49-F238E27FC236}">
                <a16:creationId xmlns:a16="http://schemas.microsoft.com/office/drawing/2014/main" id="{37706053-0E56-8F95-D99F-E8BD13863EF3}"/>
              </a:ext>
            </a:extLst>
          </p:cNvPr>
          <p:cNvPicPr>
            <a:picLocks noChangeAspect="1"/>
          </p:cNvPicPr>
          <p:nvPr/>
        </p:nvPicPr>
        <p:blipFill rotWithShape="1">
          <a:blip r:embed="rId2"/>
          <a:srcRect r="7174"/>
          <a:stretch/>
        </p:blipFill>
        <p:spPr>
          <a:xfrm>
            <a:off x="1219200" y="2694390"/>
            <a:ext cx="5335374" cy="2895851"/>
          </a:xfrm>
          <a:prstGeom prst="rect">
            <a:avLst/>
          </a:prstGeom>
        </p:spPr>
      </p:pic>
    </p:spTree>
    <p:extLst>
      <p:ext uri="{BB962C8B-B14F-4D97-AF65-F5344CB8AC3E}">
        <p14:creationId xmlns:p14="http://schemas.microsoft.com/office/powerpoint/2010/main" val="3408163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7000">
              <a:schemeClr val="tx2"/>
            </a:gs>
            <a:gs pos="39079">
              <a:schemeClr val="tx2"/>
            </a:gs>
            <a:gs pos="100000">
              <a:schemeClr val="tx2"/>
            </a:gs>
            <a:gs pos="30464">
              <a:schemeClr val="tx2"/>
            </a:gs>
            <a:gs pos="14350">
              <a:schemeClr val="tx2"/>
            </a:gs>
            <a:gs pos="0">
              <a:schemeClr val="tx2"/>
            </a:gs>
            <a:gs pos="50000">
              <a:schemeClr val="tx2"/>
            </a:gs>
            <a:gs pos="100000">
              <a:schemeClr val="tx2"/>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13EB3-4D76-716C-085D-69F3A3044BB9}"/>
              </a:ext>
            </a:extLst>
          </p:cNvPr>
          <p:cNvSpPr>
            <a:spLocks noGrp="1"/>
          </p:cNvSpPr>
          <p:nvPr>
            <p:ph type="ctrTitle"/>
          </p:nvPr>
        </p:nvSpPr>
        <p:spPr>
          <a:xfrm>
            <a:off x="-726141" y="1899751"/>
            <a:ext cx="7494494" cy="924131"/>
          </a:xfrm>
        </p:spPr>
        <p:txBody>
          <a:bodyPr>
            <a:normAutofit fontScale="90000"/>
          </a:bodyPr>
          <a:lstStyle/>
          <a:p>
            <a:pPr algn="ctr"/>
            <a:r>
              <a:rPr lang="en-IN" sz="8000" dirty="0">
                <a:solidFill>
                  <a:schemeClr val="accent1">
                    <a:lumMod val="60000"/>
                    <a:lumOff val="40000"/>
                  </a:schemeClr>
                </a:solidFill>
              </a:rPr>
              <a:t>CONCLUSION</a:t>
            </a:r>
            <a:endParaRPr lang="en-IN" b="1" dirty="0">
              <a:solidFill>
                <a:schemeClr val="accent1">
                  <a:lumMod val="60000"/>
                  <a:lumOff val="40000"/>
                </a:schemeClr>
              </a:solidFill>
              <a:latin typeface="Latha" panose="020B0604020202020204" pitchFamily="34" charset="0"/>
              <a:cs typeface="Latha" panose="020B0604020202020204" pitchFamily="34" charset="0"/>
            </a:endParaRPr>
          </a:p>
        </p:txBody>
      </p:sp>
      <p:sp>
        <p:nvSpPr>
          <p:cNvPr id="4" name="TextBox 3">
            <a:extLst>
              <a:ext uri="{FF2B5EF4-FFF2-40B4-BE49-F238E27FC236}">
                <a16:creationId xmlns:a16="http://schemas.microsoft.com/office/drawing/2014/main" id="{06DA2D62-A2BB-0E5D-6F7D-C2B125869736}"/>
              </a:ext>
            </a:extLst>
          </p:cNvPr>
          <p:cNvSpPr txBox="1"/>
          <p:nvPr/>
        </p:nvSpPr>
        <p:spPr>
          <a:xfrm>
            <a:off x="537883" y="2823882"/>
            <a:ext cx="10605247" cy="2215991"/>
          </a:xfrm>
          <a:prstGeom prst="rect">
            <a:avLst/>
          </a:prstGeom>
          <a:noFill/>
        </p:spPr>
        <p:txBody>
          <a:bodyPr wrap="square" rtlCol="0">
            <a:spAutoFit/>
          </a:bodyPr>
          <a:lstStyle/>
          <a:p>
            <a:r>
              <a:rPr lang="en-US" sz="2400" dirty="0">
                <a:solidFill>
                  <a:schemeClr val="bg1"/>
                </a:solidFill>
              </a:rPr>
              <a:t>Overall, the "syntax analyzer for conditional (if-else statement)" project is a crucial part of the compiler and plays a vital role in ensuring the correctness and reliability of the compiled program. It requires careful planning, implementation, and testing to ensure that it accurately analyzes and detects syntax errors in the conditional statements of the source code.</a:t>
            </a:r>
          </a:p>
          <a:p>
            <a:endParaRPr lang="en-IN" dirty="0">
              <a:solidFill>
                <a:schemeClr val="bg1"/>
              </a:solidFill>
            </a:endParaRPr>
          </a:p>
        </p:txBody>
      </p:sp>
    </p:spTree>
    <p:extLst>
      <p:ext uri="{BB962C8B-B14F-4D97-AF65-F5344CB8AC3E}">
        <p14:creationId xmlns:p14="http://schemas.microsoft.com/office/powerpoint/2010/main" val="582702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43124-0B8B-FE2A-6074-66240CD3A9ED}"/>
              </a:ext>
            </a:extLst>
          </p:cNvPr>
          <p:cNvSpPr>
            <a:spLocks noGrp="1"/>
          </p:cNvSpPr>
          <p:nvPr>
            <p:ph type="ctrTitle"/>
          </p:nvPr>
        </p:nvSpPr>
        <p:spPr>
          <a:xfrm>
            <a:off x="963027" y="2894097"/>
            <a:ext cx="5923548" cy="1687428"/>
          </a:xfrm>
        </p:spPr>
        <p:txBody>
          <a:bodyPr>
            <a:normAutofit/>
          </a:bodyPr>
          <a:lstStyle/>
          <a:p>
            <a:r>
              <a:rPr lang="en-IN" dirty="0">
                <a:solidFill>
                  <a:schemeClr val="tx1"/>
                </a:solidFill>
              </a:rPr>
              <a:t>Thank you</a:t>
            </a:r>
          </a:p>
        </p:txBody>
      </p:sp>
    </p:spTree>
    <p:extLst>
      <p:ext uri="{BB962C8B-B14F-4D97-AF65-F5344CB8AC3E}">
        <p14:creationId xmlns:p14="http://schemas.microsoft.com/office/powerpoint/2010/main" val="181465041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B96CC85-5758-41C0-8EFD-737AFB69121D}">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s>
</ds:datastoreItem>
</file>

<file path=customXml/itemProps2.xml><?xml version="1.0" encoding="utf-8"?>
<ds:datastoreItem xmlns:ds="http://schemas.openxmlformats.org/officeDocument/2006/customXml" ds:itemID="{10BEB954-4024-4CCF-A9D6-4C00FDC028D9}">
  <ds:schemaRefs>
    <ds:schemaRef ds:uri="http://schemas.microsoft.com/sharepoint/v3/contenttype/forms"/>
  </ds:schemaRefs>
</ds:datastoreItem>
</file>

<file path=customXml/itemProps3.xml><?xml version="1.0" encoding="utf-8"?>
<ds:datastoreItem xmlns:ds="http://schemas.openxmlformats.org/officeDocument/2006/customXml" ds:itemID="{4710EE66-8707-456F-8F2E-091D581CB030}">
  <ds:schemaRefs>
    <ds:schemaRef ds:uri="http://schemas.microsoft.com/office/2006/metadata/properties"/>
    <ds:schemaRef ds:uri="http://www.w3.org/2000/xmlns/"/>
    <ds:schemaRef ds:uri="71af3243-3dd4-4a8d-8c0d-dd76da1f02a5"/>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Ion</Template>
  <TotalTime>283</TotalTime>
  <Words>626</Words>
  <Application>Microsoft Office PowerPoint</Application>
  <PresentationFormat>Widescreen</PresentationFormat>
  <Paragraphs>31</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Retrospect</vt:lpstr>
      <vt:lpstr> SYNTAX ANALYSER FOR CONDITIONAL (IF-ELSE STATEMENT)  </vt:lpstr>
      <vt:lpstr>                         Team members</vt:lpstr>
      <vt:lpstr>Introduction   </vt:lpstr>
      <vt:lpstr>PROBLEM STATEMENT</vt:lpstr>
      <vt:lpstr>METHODOLOGY</vt:lpstr>
      <vt:lpstr>PowerPoint Presentation</vt:lpstr>
      <vt:lpstr>REQUIREMENTS</vt:lpstr>
      <vt:lpstr>SOURCE CODE</vt:lpstr>
      <vt:lpstr>RESULT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CPYTHON ITERPRETER </dc:title>
  <dc:creator>T. Yathesh</dc:creator>
  <cp:lastModifiedBy>vasu buchingari</cp:lastModifiedBy>
  <cp:revision>5</cp:revision>
  <dcterms:created xsi:type="dcterms:W3CDTF">2023-04-14T15:24:07Z</dcterms:created>
  <dcterms:modified xsi:type="dcterms:W3CDTF">2023-05-08T06:52:53Z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